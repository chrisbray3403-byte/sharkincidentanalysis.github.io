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6" r:id="rId6"/>
    <p:sldId id="260" r:id="rId7"/>
    <p:sldId id="261" r:id="rId8"/>
    <p:sldId id="265" r:id="rId9"/>
    <p:sldId id="262" r:id="rId10"/>
    <p:sldId id="263" r:id="rId11"/>
    <p:sldId id="264" r:id="rId12"/>
  </p:sldIdLst>
  <p:sldSz cx="9144000" cy="5143500" type="screen16x9"/>
  <p:notesSz cx="6858000" cy="9144000"/>
  <p:embeddedFontLst>
    <p:embeddedFont>
      <p:font typeface="Proxima Nova" panose="02000506030000020004"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p:cViewPr varScale="1">
        <p:scale>
          <a:sx n="156" d="100"/>
          <a:sy n="156" d="100"/>
        </p:scale>
        <p:origin x="360"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a68f07e08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a68f07e0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68f07e089_0_6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68f07e089_0_6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a68f07e089_0_6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a68f07e089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a68f07e089_0_6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a68f07e089_0_6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a68f07e089_0_6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68f07e089_0_6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a68f07e089_0_6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a68f07e089_0_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a68f07e089_0_6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68f07e089_0_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Shark Incident Analysis (1950-2022) </a:t>
            </a:r>
            <a:endParaRPr>
              <a:latin typeface="Times New Roman"/>
              <a:ea typeface="Times New Roman"/>
              <a:cs typeface="Times New Roman"/>
              <a:sym typeface="Times New Roman"/>
            </a:endParaRPr>
          </a:p>
        </p:txBody>
      </p:sp>
      <p:sp>
        <p:nvSpPr>
          <p:cNvPr id="60" name="Google Shape;60;p13"/>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fontScale="25000" lnSpcReduction="20000"/>
          </a:bodyPr>
          <a:lstStyle/>
          <a:p>
            <a:pPr marL="0" lvl="0" indent="0" algn="l" rtl="0">
              <a:lnSpc>
                <a:spcPct val="115000"/>
              </a:lnSpc>
              <a:spcBef>
                <a:spcPts val="1200"/>
              </a:spcBef>
              <a:spcAft>
                <a:spcPts val="0"/>
              </a:spcAft>
              <a:buNone/>
            </a:pPr>
            <a:r>
              <a:rPr lang="en" sz="6800">
                <a:latin typeface="Times New Roman"/>
                <a:ea typeface="Times New Roman"/>
                <a:cs typeface="Times New Roman"/>
                <a:sym typeface="Times New Roman"/>
              </a:rPr>
              <a:t>Patterns in Fatalities, Activities, and Environmental Factors</a:t>
            </a:r>
            <a:endParaRPr sz="68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275"/>
              <a:buFont typeface="Arial"/>
              <a:buNone/>
            </a:pPr>
            <a:r>
              <a:rPr lang="en" sz="6000">
                <a:latin typeface="Times New Roman"/>
                <a:ea typeface="Times New Roman"/>
                <a:cs typeface="Times New Roman"/>
                <a:sym typeface="Times New Roman"/>
              </a:rPr>
              <a:t>By: Brayden Pearson</a:t>
            </a:r>
            <a:endParaRPr sz="6000">
              <a:latin typeface="Times New Roman"/>
              <a:ea typeface="Times New Roman"/>
              <a:cs typeface="Times New Roman"/>
              <a:sym typeface="Times New Roman"/>
            </a:endParaRPr>
          </a:p>
          <a:p>
            <a:pPr marL="0" lvl="0" indent="0" algn="l" rtl="0">
              <a:spcBef>
                <a:spcPts val="120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Project Overview</a:t>
            </a:r>
            <a:r>
              <a:rPr lang="en"/>
              <a:t> </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0" lvl="0" indent="0" algn="l" rtl="0">
              <a:spcBef>
                <a:spcPts val="800"/>
              </a:spcBef>
              <a:spcAft>
                <a:spcPts val="0"/>
              </a:spcAft>
              <a:buNone/>
            </a:pPr>
            <a:r>
              <a:rPr lang="en" sz="3200">
                <a:solidFill>
                  <a:srgbClr val="000000"/>
                </a:solidFill>
                <a:latin typeface="Times New Roman"/>
                <a:ea typeface="Times New Roman"/>
                <a:cs typeface="Times New Roman"/>
                <a:sym typeface="Times New Roman"/>
              </a:rPr>
              <a:t>•Purpose: Analyze shark incident patterns to identify trends and high-risk factors.</a:t>
            </a:r>
            <a:endParaRPr sz="3200">
              <a:solidFill>
                <a:srgbClr val="000000"/>
              </a:solidFill>
              <a:latin typeface="Times New Roman"/>
              <a:ea typeface="Times New Roman"/>
              <a:cs typeface="Times New Roman"/>
              <a:sym typeface="Times New Roman"/>
            </a:endParaRPr>
          </a:p>
          <a:p>
            <a:pPr marL="0" lvl="0" indent="0" algn="l" rtl="0">
              <a:spcBef>
                <a:spcPts val="800"/>
              </a:spcBef>
              <a:spcAft>
                <a:spcPts val="0"/>
              </a:spcAft>
              <a:buNone/>
            </a:pPr>
            <a:r>
              <a:rPr lang="en" sz="3200">
                <a:solidFill>
                  <a:srgbClr val="000000"/>
                </a:solidFill>
                <a:latin typeface="Times New Roman"/>
                <a:ea typeface="Times New Roman"/>
                <a:cs typeface="Times New Roman"/>
                <a:sym typeface="Times New Roman"/>
              </a:rPr>
              <a:t>•Research Questions:</a:t>
            </a:r>
            <a:endParaRPr sz="3200">
              <a:solidFill>
                <a:srgbClr val="000000"/>
              </a:solidFill>
              <a:latin typeface="Times New Roman"/>
              <a:ea typeface="Times New Roman"/>
              <a:cs typeface="Times New Roman"/>
              <a:sym typeface="Times New Roman"/>
            </a:endParaRPr>
          </a:p>
          <a:p>
            <a:pPr marL="0" lvl="0" indent="0" algn="l" rtl="0">
              <a:spcBef>
                <a:spcPts val="800"/>
              </a:spcBef>
              <a:spcAft>
                <a:spcPts val="0"/>
              </a:spcAft>
              <a:buNone/>
            </a:pPr>
            <a:r>
              <a:rPr lang="en" sz="3200">
                <a:solidFill>
                  <a:srgbClr val="000000"/>
                </a:solidFill>
                <a:latin typeface="Times New Roman"/>
                <a:ea typeface="Times New Roman"/>
                <a:cs typeface="Times New Roman"/>
                <a:sym typeface="Times New Roman"/>
              </a:rPr>
              <a:t>•1. Which activities are most common in fatal shark incidents?</a:t>
            </a:r>
            <a:endParaRPr sz="3200">
              <a:solidFill>
                <a:srgbClr val="000000"/>
              </a:solidFill>
              <a:latin typeface="Times New Roman"/>
              <a:ea typeface="Times New Roman"/>
              <a:cs typeface="Times New Roman"/>
              <a:sym typeface="Times New Roman"/>
            </a:endParaRPr>
          </a:p>
          <a:p>
            <a:pPr marL="0" lvl="0" indent="0" algn="l" rtl="0">
              <a:spcBef>
                <a:spcPts val="800"/>
              </a:spcBef>
              <a:spcAft>
                <a:spcPts val="0"/>
              </a:spcAft>
              <a:buNone/>
            </a:pPr>
            <a:r>
              <a:rPr lang="en" sz="3200">
                <a:solidFill>
                  <a:srgbClr val="000000"/>
                </a:solidFill>
                <a:latin typeface="Times New Roman"/>
                <a:ea typeface="Times New Roman"/>
                <a:cs typeface="Times New Roman"/>
                <a:sym typeface="Times New Roman"/>
              </a:rPr>
              <a:t>•2. Which counties have the highest number of shark incidents?</a:t>
            </a:r>
            <a:endParaRPr sz="3200">
              <a:solidFill>
                <a:srgbClr val="000000"/>
              </a:solidFill>
              <a:latin typeface="Times New Roman"/>
              <a:ea typeface="Times New Roman"/>
              <a:cs typeface="Times New Roman"/>
              <a:sym typeface="Times New Roman"/>
            </a:endParaRPr>
          </a:p>
          <a:p>
            <a:pPr marL="0" lvl="0" indent="0" algn="l" rtl="0">
              <a:spcBef>
                <a:spcPts val="800"/>
              </a:spcBef>
              <a:spcAft>
                <a:spcPts val="0"/>
              </a:spcAft>
              <a:buNone/>
            </a:pPr>
            <a:r>
              <a:rPr lang="en" sz="3200">
                <a:solidFill>
                  <a:srgbClr val="000000"/>
                </a:solidFill>
                <a:latin typeface="Times New Roman"/>
                <a:ea typeface="Times New Roman"/>
                <a:cs typeface="Times New Roman"/>
                <a:sym typeface="Times New Roman"/>
              </a:rPr>
              <a:t>•3. </a:t>
            </a:r>
            <a:r>
              <a:rPr lang="en" sz="3200">
                <a:solidFill>
                  <a:schemeClr val="dk1"/>
                </a:solidFill>
                <a:latin typeface="Times New Roman"/>
                <a:ea typeface="Times New Roman"/>
                <a:cs typeface="Times New Roman"/>
                <a:sym typeface="Times New Roman"/>
              </a:rPr>
              <a:t>Do shark incidents show seasonal patterns across the year?</a:t>
            </a:r>
            <a:endParaRPr sz="3200">
              <a:solidFill>
                <a:schemeClr val="dk1"/>
              </a:solidFill>
              <a:latin typeface="Times New Roman"/>
              <a:ea typeface="Times New Roman"/>
              <a:cs typeface="Times New Roman"/>
              <a:sym typeface="Times New Roman"/>
            </a:endParaRPr>
          </a:p>
          <a:p>
            <a:pPr marL="0" lvl="0" indent="0" algn="l" rtl="0">
              <a:spcBef>
                <a:spcPts val="800"/>
              </a:spcBef>
              <a:spcAft>
                <a:spcPts val="0"/>
              </a:spcAft>
              <a:buNone/>
            </a:pPr>
            <a:endParaRPr sz="3200">
              <a:solidFill>
                <a:srgbClr val="000000"/>
              </a:solidFill>
              <a:latin typeface="Times New Roman"/>
              <a:ea typeface="Times New Roman"/>
              <a:cs typeface="Times New Roman"/>
              <a:sym typeface="Times New Roman"/>
            </a:endParaRPr>
          </a:p>
          <a:p>
            <a:pPr marL="0" lvl="0" indent="0" algn="l" rtl="0">
              <a:spcBef>
                <a:spcPts val="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Question 1 </a:t>
            </a:r>
            <a:endParaRPr>
              <a:latin typeface="Times New Roman"/>
              <a:ea typeface="Times New Roman"/>
              <a:cs typeface="Times New Roman"/>
              <a:sym typeface="Times New Roman"/>
            </a:endParaRPr>
          </a:p>
        </p:txBody>
      </p:sp>
      <p:sp>
        <p:nvSpPr>
          <p:cNvPr id="72" name="Google Shape;72;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800"/>
              </a:spcBef>
              <a:spcAft>
                <a:spcPts val="0"/>
              </a:spcAft>
              <a:buNone/>
            </a:pPr>
            <a:r>
              <a:rPr lang="en" sz="3200">
                <a:solidFill>
                  <a:srgbClr val="000000"/>
                </a:solidFill>
                <a:latin typeface="Times New Roman"/>
                <a:ea typeface="Times New Roman"/>
                <a:cs typeface="Times New Roman"/>
                <a:sym typeface="Times New Roman"/>
              </a:rPr>
              <a:t>Which activities are most common in fatal shark incidents?</a:t>
            </a:r>
            <a:endParaRPr sz="3200">
              <a:solidFill>
                <a:srgbClr val="000000"/>
              </a:solidFill>
              <a:latin typeface="Times New Roman"/>
              <a:ea typeface="Times New Roman"/>
              <a:cs typeface="Times New Roman"/>
              <a:sym typeface="Times New Roman"/>
            </a:endParaRPr>
          </a:p>
          <a:p>
            <a:pPr marL="0" lvl="0" indent="0" algn="l" rtl="0">
              <a:spcBef>
                <a:spcPts val="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a:ea typeface="Times New Roman"/>
                <a:cs typeface="Times New Roman"/>
                <a:sym typeface="Times New Roman"/>
              </a:rPr>
              <a:t>Fatal Shark Incidents by Activity </a:t>
            </a:r>
            <a:endParaRPr dirty="0">
              <a:latin typeface="Times New Roman"/>
              <a:ea typeface="Times New Roman"/>
              <a:cs typeface="Times New Roman"/>
              <a:sym typeface="Times New Roman"/>
            </a:endParaRPr>
          </a:p>
        </p:txBody>
      </p:sp>
      <p:sp>
        <p:nvSpPr>
          <p:cNvPr id="78" name="Google Shape;78;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a:buClr>
                <a:schemeClr val="tx1"/>
              </a:buClr>
            </a:pPr>
            <a:r>
              <a:rPr lang="en-US" dirty="0">
                <a:solidFill>
                  <a:schemeClr val="tx1"/>
                </a:solidFill>
                <a:latin typeface="Times New Roman" panose="02020603050405020304" pitchFamily="18" charset="0"/>
                <a:cs typeface="Times New Roman" panose="02020603050405020304" pitchFamily="18" charset="0"/>
              </a:rPr>
              <a:t>Swimming and surfing/boarding have the highest number of fatal shark incidents, with </a:t>
            </a:r>
            <a:r>
              <a:rPr lang="en-US" b="1" dirty="0">
                <a:solidFill>
                  <a:schemeClr val="tx1"/>
                </a:solidFill>
                <a:latin typeface="Times New Roman" panose="02020603050405020304" pitchFamily="18" charset="0"/>
                <a:cs typeface="Times New Roman" panose="02020603050405020304" pitchFamily="18" charset="0"/>
              </a:rPr>
              <a:t>5 fatalities each</a:t>
            </a:r>
            <a:r>
              <a:rPr lang="en-US" dirty="0">
                <a:solidFill>
                  <a:schemeClr val="tx1"/>
                </a:solidFill>
                <a:latin typeface="Times New Roman" panose="02020603050405020304" pitchFamily="18" charset="0"/>
                <a:cs typeface="Times New Roman" panose="02020603050405020304" pitchFamily="18" charset="0"/>
              </a:rPr>
              <a:t>.</a:t>
            </a:r>
          </a:p>
          <a:p>
            <a:pPr>
              <a:buClr>
                <a:schemeClr val="tx1"/>
              </a:buClr>
            </a:pPr>
            <a:r>
              <a:rPr lang="en-US" dirty="0">
                <a:solidFill>
                  <a:schemeClr val="tx1"/>
                </a:solidFill>
                <a:latin typeface="Times New Roman" panose="02020603050405020304" pitchFamily="18" charset="0"/>
                <a:cs typeface="Times New Roman" panose="02020603050405020304" pitchFamily="18" charset="0"/>
              </a:rPr>
              <a:t>Freediving accounts for a smaller number of fatal incidents (3 cases).</a:t>
            </a:r>
          </a:p>
          <a:p>
            <a:pPr>
              <a:buClr>
                <a:schemeClr val="tx1"/>
              </a:buClr>
            </a:pPr>
            <a:r>
              <a:rPr lang="en-US" dirty="0">
                <a:solidFill>
                  <a:schemeClr val="tx1"/>
                </a:solidFill>
                <a:latin typeface="Times New Roman" panose="02020603050405020304" pitchFamily="18" charset="0"/>
                <a:cs typeface="Times New Roman" panose="02020603050405020304" pitchFamily="18" charset="0"/>
              </a:rPr>
              <a:t>Hookah diving and kayaking/canoeing appear rarely, with only 1 fatal incident each.</a:t>
            </a:r>
          </a:p>
          <a:p>
            <a:pPr>
              <a:buClr>
                <a:schemeClr val="tx1"/>
              </a:buClr>
            </a:pPr>
            <a:r>
              <a:rPr lang="en-US" dirty="0">
                <a:solidFill>
                  <a:schemeClr val="tx1"/>
                </a:solidFill>
                <a:latin typeface="Times New Roman" panose="02020603050405020304" pitchFamily="18" charset="0"/>
                <a:cs typeface="Times New Roman" panose="02020603050405020304" pitchFamily="18" charset="0"/>
              </a:rPr>
              <a:t>Overall, most fatal incidents occur during surface-level activities, which aligns with where sharks most frequently encounter humans.</a:t>
            </a:r>
          </a:p>
          <a:p>
            <a:pPr>
              <a:buClr>
                <a:schemeClr val="tx1"/>
              </a:buClr>
            </a:pPr>
            <a:r>
              <a:rPr lang="en-US" dirty="0">
                <a:solidFill>
                  <a:schemeClr val="tx1"/>
                </a:solidFill>
                <a:latin typeface="Times New Roman" panose="02020603050405020304" pitchFamily="18" charset="0"/>
                <a:cs typeface="Times New Roman" panose="02020603050405020304" pitchFamily="18" charset="0"/>
              </a:rPr>
              <a:t>These counts reflect recorded incidents, not risk levels, since participation rates for each activity are unknown.</a:t>
            </a:r>
          </a:p>
          <a:p>
            <a:pPr marL="0" lvl="0" indent="0" algn="l" rtl="0">
              <a:spcBef>
                <a:spcPts val="0"/>
              </a:spcBef>
              <a:spcAft>
                <a:spcPts val="0"/>
              </a:spcAft>
              <a:buNone/>
            </a:pPr>
            <a:endParaRPr dirty="0">
              <a:solidFill>
                <a:srgbClr val="000000"/>
              </a:solidFill>
              <a:latin typeface="Arial"/>
              <a:ea typeface="Arial"/>
              <a:cs typeface="Arial"/>
              <a:sym typeface="Arial"/>
            </a:endParaRPr>
          </a:p>
          <a:p>
            <a:pPr marL="0" lvl="0" indent="0" algn="l" rtl="0">
              <a:spcBef>
                <a:spcPts val="0"/>
              </a:spcBef>
              <a:spcAft>
                <a:spcPts val="0"/>
              </a:spcAft>
              <a:buNone/>
            </a:pPr>
            <a:endParaRPr dirty="0">
              <a:solidFill>
                <a:srgbClr val="000000"/>
              </a:solidFill>
              <a:latin typeface="Arial"/>
              <a:ea typeface="Arial"/>
              <a:cs typeface="Arial"/>
              <a:sym typeface="Arial"/>
            </a:endParaRPr>
          </a:p>
          <a:p>
            <a:pPr marL="0" lvl="0" indent="0" algn="l" rtl="0">
              <a:spcBef>
                <a:spcPts val="0"/>
              </a:spcBef>
              <a:spcAft>
                <a:spcPts val="0"/>
              </a:spcAft>
              <a:buNone/>
            </a:pPr>
            <a:endParaRPr dirty="0">
              <a:solidFill>
                <a:srgbClr val="000000"/>
              </a:solidFill>
              <a:latin typeface="Arial"/>
              <a:ea typeface="Arial"/>
              <a:cs typeface="Arial"/>
              <a:sym typeface="Arial"/>
            </a:endParaRPr>
          </a:p>
          <a:p>
            <a:pPr marL="0" lvl="0" indent="0" algn="l" rtl="0">
              <a:spcBef>
                <a:spcPts val="0"/>
              </a:spcBef>
              <a:spcAft>
                <a:spcPts val="0"/>
              </a:spcAft>
              <a:buNone/>
            </a:pPr>
            <a:endParaRPr dirty="0">
              <a:solidFill>
                <a:srgbClr val="000000"/>
              </a:solidFill>
              <a:latin typeface="Arial"/>
              <a:ea typeface="Arial"/>
              <a:cs typeface="Arial"/>
              <a:sym typeface="Arial"/>
            </a:endParaRPr>
          </a:p>
          <a:p>
            <a:pPr marL="0" lvl="0" indent="0" algn="l" rtl="0">
              <a:spcBef>
                <a:spcPts val="0"/>
              </a:spcBef>
              <a:spcAft>
                <a:spcPts val="0"/>
              </a:spcAft>
              <a:buNone/>
            </a:pPr>
            <a:endParaRPr dirty="0">
              <a:solidFill>
                <a:srgbClr val="000000"/>
              </a:solidFill>
              <a:latin typeface="Arial"/>
              <a:ea typeface="Arial"/>
              <a:cs typeface="Arial"/>
              <a:sym typeface="Arial"/>
            </a:endParaRPr>
          </a:p>
          <a:p>
            <a:pPr marL="0" lvl="0" indent="0" algn="l" rtl="0">
              <a:spcBef>
                <a:spcPts val="0"/>
              </a:spcBef>
              <a:spcAft>
                <a:spcPts val="0"/>
              </a:spcAft>
              <a:buNone/>
            </a:pPr>
            <a:endParaRPr dirty="0">
              <a:solidFill>
                <a:srgbClr val="000000"/>
              </a:solidFill>
              <a:latin typeface="Arial"/>
              <a:ea typeface="Arial"/>
              <a:cs typeface="Arial"/>
              <a:sym typeface="Arial"/>
            </a:endParaRPr>
          </a:p>
          <a:p>
            <a:pPr marL="0" lvl="0" indent="0" algn="l" rtl="0">
              <a:spcBef>
                <a:spcPts val="0"/>
              </a:spcBef>
              <a:spcAft>
                <a:spcPts val="0"/>
              </a:spcAft>
              <a:buNone/>
            </a:pPr>
            <a:endParaRPr dirty="0">
              <a:solidFill>
                <a:srgbClr val="000000"/>
              </a:solidFill>
              <a:latin typeface="Arial"/>
              <a:ea typeface="Arial"/>
              <a:cs typeface="Arial"/>
              <a:sym typeface="Arial"/>
            </a:endParaRPr>
          </a:p>
          <a:p>
            <a:pPr marL="0" lvl="0" indent="0" algn="l" rtl="0">
              <a:spcBef>
                <a:spcPts val="0"/>
              </a:spcBef>
              <a:spcAft>
                <a:spcPts val="0"/>
              </a:spcAft>
              <a:buNone/>
            </a:pPr>
            <a:endParaRPr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5AC1E1-9FFB-0323-1904-FCE7F278C793}"/>
              </a:ext>
            </a:extLst>
          </p:cNvPr>
          <p:cNvPicPr>
            <a:picLocks noChangeAspect="1"/>
          </p:cNvPicPr>
          <p:nvPr/>
        </p:nvPicPr>
        <p:blipFill rotWithShape="1">
          <a:blip r:embed="rId2"/>
          <a:srcRect l="11869" t="35211" r="8718" b="15209"/>
          <a:stretch/>
        </p:blipFill>
        <p:spPr>
          <a:xfrm>
            <a:off x="617607" y="1028700"/>
            <a:ext cx="7908786" cy="3086100"/>
          </a:xfrm>
          <a:prstGeom prst="rect">
            <a:avLst/>
          </a:prstGeom>
        </p:spPr>
      </p:pic>
    </p:spTree>
    <p:extLst>
      <p:ext uri="{BB962C8B-B14F-4D97-AF65-F5344CB8AC3E}">
        <p14:creationId xmlns:p14="http://schemas.microsoft.com/office/powerpoint/2010/main" val="2378469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Question 2</a:t>
            </a:r>
            <a:endParaRPr>
              <a:latin typeface="Times New Roman"/>
              <a:ea typeface="Times New Roman"/>
              <a:cs typeface="Times New Roman"/>
              <a:sym typeface="Times New Roman"/>
            </a:endParaRPr>
          </a:p>
        </p:txBody>
      </p:sp>
      <p:sp>
        <p:nvSpPr>
          <p:cNvPr id="85" name="Google Shape;85;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800"/>
              </a:spcBef>
              <a:spcAft>
                <a:spcPts val="0"/>
              </a:spcAft>
              <a:buNone/>
            </a:pPr>
            <a:r>
              <a:rPr lang="en" sz="3200" dirty="0">
                <a:solidFill>
                  <a:srgbClr val="000000"/>
                </a:solidFill>
                <a:latin typeface="Times New Roman"/>
                <a:ea typeface="Times New Roman"/>
                <a:cs typeface="Times New Roman"/>
                <a:sym typeface="Times New Roman"/>
              </a:rPr>
              <a:t>Which counties have the highest number of shark incidents?</a:t>
            </a:r>
            <a:endParaRPr sz="3200" dirty="0">
              <a:solidFill>
                <a:srgbClr val="000000"/>
              </a:solidFill>
              <a:latin typeface="Times New Roman"/>
              <a:ea typeface="Times New Roman"/>
              <a:cs typeface="Times New Roman"/>
              <a:sym typeface="Times New Roman"/>
            </a:endParaRPr>
          </a:p>
          <a:p>
            <a:pPr marL="0" lvl="0" indent="0" algn="l" rtl="0">
              <a:spcBef>
                <a:spcPts val="0"/>
              </a:spcBef>
              <a:spcAft>
                <a:spcPts val="1200"/>
              </a:spcAft>
              <a:buNone/>
            </a:pPr>
            <a:r>
              <a:rPr lang="en" sz="3200" dirty="0">
                <a:solidFill>
                  <a:schemeClr val="dk1"/>
                </a:solidFill>
                <a:latin typeface="Times New Roman"/>
                <a:ea typeface="Times New Roman"/>
                <a:cs typeface="Times New Roman"/>
                <a:sym typeface="Times New Roman"/>
              </a:rPr>
              <a:t>How do injury severities differ across the counties with the highest number of shark incidents?</a:t>
            </a:r>
            <a:endParaRPr sz="3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Top Counties for Shark Incidents </a:t>
            </a:r>
            <a:endParaRPr>
              <a:latin typeface="Times New Roman"/>
              <a:ea typeface="Times New Roman"/>
              <a:cs typeface="Times New Roman"/>
              <a:sym typeface="Times New Roman"/>
            </a:endParaRPr>
          </a:p>
        </p:txBody>
      </p:sp>
      <p:sp>
        <p:nvSpPr>
          <p:cNvPr id="91" name="Google Shape;91;p18"/>
          <p:cNvSpPr txBox="1">
            <a:spLocks noGrp="1"/>
          </p:cNvSpPr>
          <p:nvPr>
            <p:ph type="body" idx="1"/>
          </p:nvPr>
        </p:nvSpPr>
        <p:spPr>
          <a:xfrm>
            <a:off x="311700" y="1152475"/>
            <a:ext cx="8520600" cy="38727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1200"/>
              </a:spcAft>
              <a:buNone/>
            </a:pPr>
            <a:r>
              <a:rPr lang="en" sz="2555" dirty="0">
                <a:latin typeface="Times New Roman"/>
                <a:ea typeface="Times New Roman"/>
                <a:cs typeface="Times New Roman"/>
                <a:sym typeface="Times New Roman"/>
              </a:rPr>
              <a:t>The stacked column chart shows how shark injury severity varies across the counties with the highest number of incidents. In most counties, minor and major injuries make up the majority of cases, while fatal injuries occur much less frequently. The chart also suggests that some counties have a larger share of major or fatal incidents compared to others, indicating that certain locations may be associated with more severe shark encounters.</a:t>
            </a:r>
            <a:endParaRPr sz="2555"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10CF3E-332F-081C-ADD3-6ED48E31BFC0}"/>
              </a:ext>
            </a:extLst>
          </p:cNvPr>
          <p:cNvPicPr>
            <a:picLocks noChangeAspect="1"/>
          </p:cNvPicPr>
          <p:nvPr/>
        </p:nvPicPr>
        <p:blipFill rotWithShape="1">
          <a:blip r:embed="rId2"/>
          <a:srcRect l="4832" t="36218" r="5147" b="13025"/>
          <a:stretch/>
        </p:blipFill>
        <p:spPr>
          <a:xfrm>
            <a:off x="216377" y="922564"/>
            <a:ext cx="8711246" cy="3069773"/>
          </a:xfrm>
          <a:prstGeom prst="rect">
            <a:avLst/>
          </a:prstGeom>
        </p:spPr>
      </p:pic>
    </p:spTree>
    <p:extLst>
      <p:ext uri="{BB962C8B-B14F-4D97-AF65-F5344CB8AC3E}">
        <p14:creationId xmlns:p14="http://schemas.microsoft.com/office/powerpoint/2010/main" val="103785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Question 3</a:t>
            </a:r>
            <a:endParaRPr>
              <a:latin typeface="Times New Roman"/>
              <a:ea typeface="Times New Roman"/>
              <a:cs typeface="Times New Roman"/>
              <a:sym typeface="Times New Roman"/>
            </a:endParaRPr>
          </a:p>
        </p:txBody>
      </p:sp>
      <p:sp>
        <p:nvSpPr>
          <p:cNvPr id="98" name="Google Shape;98;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800"/>
              </a:spcBef>
              <a:spcAft>
                <a:spcPts val="0"/>
              </a:spcAft>
              <a:buNone/>
            </a:pPr>
            <a:r>
              <a:rPr lang="en" sz="3200">
                <a:solidFill>
                  <a:schemeClr val="dk1"/>
                </a:solidFill>
                <a:latin typeface="Times New Roman"/>
                <a:ea typeface="Times New Roman"/>
                <a:cs typeface="Times New Roman"/>
                <a:sym typeface="Times New Roman"/>
              </a:rPr>
              <a:t>Do shark incidents show seasonal patterns across the year?</a:t>
            </a:r>
            <a:endParaRPr sz="3200">
              <a:solidFill>
                <a:schemeClr val="dk1"/>
              </a:solidFill>
              <a:latin typeface="Times New Roman"/>
              <a:ea typeface="Times New Roman"/>
              <a:cs typeface="Times New Roman"/>
              <a:sym typeface="Times New Roman"/>
            </a:endParaRPr>
          </a:p>
          <a:p>
            <a:pPr marL="0" lvl="0" indent="0" algn="l" rtl="0">
              <a:spcBef>
                <a:spcPts val="800"/>
              </a:spcBef>
              <a:spcAft>
                <a:spcPts val="0"/>
              </a:spcAft>
              <a:buNone/>
            </a:pPr>
            <a:endParaRPr sz="3200">
              <a:solidFill>
                <a:srgbClr val="000000"/>
              </a:solidFill>
              <a:latin typeface="Times New Roman"/>
              <a:ea typeface="Times New Roman"/>
              <a:cs typeface="Times New Roman"/>
              <a:sym typeface="Times New Roman"/>
            </a:endParaRPr>
          </a:p>
          <a:p>
            <a:pPr marL="0" lvl="0" indent="0" algn="l" rtl="0">
              <a:spcBef>
                <a:spcPts val="800"/>
              </a:spcBef>
              <a:spcAft>
                <a:spcPts val="0"/>
              </a:spcAft>
              <a:buNone/>
            </a:pPr>
            <a:endParaRPr sz="3200">
              <a:solidFill>
                <a:srgbClr val="000000"/>
              </a:solidFill>
              <a:latin typeface="Times New Roman"/>
              <a:ea typeface="Times New Roman"/>
              <a:cs typeface="Times New Roman"/>
              <a:sym typeface="Times New Roman"/>
            </a:endParaRPr>
          </a:p>
          <a:p>
            <a:pPr marL="0" lvl="0" indent="0" algn="l" rtl="0">
              <a:spcBef>
                <a:spcPts val="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Seasonal Trends </a:t>
            </a:r>
            <a:r>
              <a:rPr lang="en"/>
              <a:t> </a:t>
            </a:r>
            <a:endParaRPr/>
          </a:p>
        </p:txBody>
      </p:sp>
      <p:sp>
        <p:nvSpPr>
          <p:cNvPr id="104" name="Google Shape;104;p20"/>
          <p:cNvSpPr txBox="1">
            <a:spLocks noGrp="1"/>
          </p:cNvSpPr>
          <p:nvPr>
            <p:ph type="body" idx="1"/>
          </p:nvPr>
        </p:nvSpPr>
        <p:spPr>
          <a:xfrm>
            <a:off x="311700" y="1152475"/>
            <a:ext cx="8520600" cy="3892200"/>
          </a:xfrm>
          <a:prstGeom prst="rect">
            <a:avLst/>
          </a:prstGeom>
        </p:spPr>
        <p:txBody>
          <a:bodyPr spcFirstLastPara="1" wrap="square" lIns="91425" tIns="91425" rIns="91425" bIns="91425" anchor="t" anchorCtr="0">
            <a:normAutofit/>
          </a:bodyPr>
          <a:lstStyle/>
          <a:p>
            <a:pPr marL="0" lvl="0" indent="457200" algn="l" rtl="0">
              <a:spcBef>
                <a:spcPts val="1200"/>
              </a:spcBef>
              <a:spcAft>
                <a:spcPts val="1200"/>
              </a:spcAft>
              <a:buNone/>
            </a:pPr>
            <a:r>
              <a:rPr lang="en" dirty="0"/>
              <a:t>Shark incidents clearly follow a seasonal pattern. The numbers stay low from January through early spring, then start climbing in May and June. The biggest jump happens in the summer and early fall, with July, August, September, and especially October showing the highest incident counts. After October, the numbers drop again heading into winter. This pattern makes sense because more people are in the water during warmer months, and shark activity also tends to increase during this time.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F58491-F33A-2DA1-D221-14305447F4A8}"/>
              </a:ext>
            </a:extLst>
          </p:cNvPr>
          <p:cNvPicPr>
            <a:picLocks noChangeAspect="1"/>
          </p:cNvPicPr>
          <p:nvPr/>
        </p:nvPicPr>
        <p:blipFill rotWithShape="1">
          <a:blip r:embed="rId2"/>
          <a:srcRect l="18067" t="35882" r="11484" b="12129"/>
          <a:stretch/>
        </p:blipFill>
        <p:spPr>
          <a:xfrm>
            <a:off x="265096" y="585265"/>
            <a:ext cx="8613807" cy="3972969"/>
          </a:xfrm>
          <a:prstGeom prst="rect">
            <a:avLst/>
          </a:prstGeom>
        </p:spPr>
      </p:pic>
    </p:spTree>
    <p:extLst>
      <p:ext uri="{BB962C8B-B14F-4D97-AF65-F5344CB8AC3E}">
        <p14:creationId xmlns:p14="http://schemas.microsoft.com/office/powerpoint/2010/main" val="769849914"/>
      </p:ext>
    </p:extLst>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7557</TotalTime>
  <Words>395</Words>
  <Application>Microsoft Macintosh PowerPoint</Application>
  <PresentationFormat>On-screen Show (16:9)</PresentationFormat>
  <Paragraphs>33</Paragraphs>
  <Slides>11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Times New Roman</vt:lpstr>
      <vt:lpstr>Proxima Nova</vt:lpstr>
      <vt:lpstr>Spearmint</vt:lpstr>
      <vt:lpstr>Shark Incident Analysis (1950-2022) </vt:lpstr>
      <vt:lpstr>Project Overview </vt:lpstr>
      <vt:lpstr>Question 1 </vt:lpstr>
      <vt:lpstr>Fatal Shark Incidents by Activity </vt:lpstr>
      <vt:lpstr>PowerPoint Presentation</vt:lpstr>
      <vt:lpstr>Question 2</vt:lpstr>
      <vt:lpstr>Top Counties for Shark Incidents </vt:lpstr>
      <vt:lpstr>PowerPoint Presentation</vt:lpstr>
      <vt:lpstr>Question 3</vt:lpstr>
      <vt:lpstr>Seasonal Trends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Shark Incident Analysis (1950-2022) </dc:title>
  <cp:lastModifiedBy>Pearson, Christopher</cp:lastModifiedBy>
  <cp:revision>2</cp:revision>
  <dcterms:modified xsi:type="dcterms:W3CDTF">2025-11-28T00:16:14Z</dcterms:modified>
</cp:coreProperties>
</file>